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E5B7A630-E659-D50A-1CB2-22E9007A0C6E}">
          <p14:sldIdLst>
            <p14:sldId id="256"/>
            <p14:sldId id="257"/>
          </p14:sldIdLst>
        </p14:section>
        <p14:section name="Diagnóstico" id="{99A6EBBB-C717-532F-FC63-EA1235399761}">
          <p14:sldIdLst>
            <p14:sldId id="258"/>
            <p14:sldId id="259"/>
            <p14:sldId id="260"/>
          </p14:sldIdLst>
        </p14:section>
        <p14:section name="Prioridades" id="{298690F4-2450-DFF7-E1BA-AECFA639BC8D}">
          <p14:sldIdLst>
            <p14:sldId id="261"/>
          </p14:sldIdLst>
        </p14:section>
        <p14:section name="Acción" id="{64D49C7D-C2F2-A556-C665-99D1583A7FC0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0083" autoAdjust="0"/>
  </p:normalViewPr>
  <p:slideViewPr>
    <p:cSldViewPr snapToGrid="0" snapToObjects="1">
      <p:cViewPr varScale="1">
        <p:scale>
          <a:sx n="135" d="100"/>
          <a:sy n="135" d="100"/>
        </p:scale>
        <p:origin x="9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lang="es-ES" sz="1300" b="0" i="0" u="none" strike="noStrike" noProof="0" dirty="0">
                <a:solidFill>
                  <a:srgbClr val="1A1A1A"/>
                </a:solidFill>
                <a:latin typeface="+mn-lt"/>
              </a:rPr>
              <a:t>% de quejas de antiguos empleados por tema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Tesla</c:v>
                </c:pt>
              </c:strCache>
            </c:strRef>
          </c:tx>
          <c:spPr>
            <a:solidFill>
              <a:srgbClr val="E31937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A4F55"/>
                    </a:solidFill>
                    <a:latin typeface="+mn-lt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Horarios</c:v>
                </c:pt>
                <c:pt idx="1">
                  <c:v>Jefes</c:v>
                </c:pt>
                <c:pt idx="2">
                  <c:v>Ritmo</c:v>
                </c:pt>
                <c:pt idx="3">
                  <c:v>Sueldo</c:v>
                </c:pt>
                <c:pt idx="4">
                  <c:v>Burocracia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21.1</c:v>
                </c:pt>
                <c:pt idx="1">
                  <c:v>20.7</c:v>
                </c:pt>
                <c:pt idx="2">
                  <c:v>10.6</c:v>
                </c:pt>
                <c:pt idx="3">
                  <c:v>7.8</c:v>
                </c:pt>
                <c:pt idx="4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1-4C04-B7F9-3A209F5C37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Competidores</c:v>
                </c:pt>
              </c:strCache>
            </c:strRef>
          </c:tx>
          <c:spPr>
            <a:solidFill>
              <a:srgbClr val="8A9097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A4F55"/>
                    </a:solidFill>
                    <a:latin typeface="+mn-lt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Horarios</c:v>
                </c:pt>
                <c:pt idx="1">
                  <c:v>Jefes</c:v>
                </c:pt>
                <c:pt idx="2">
                  <c:v>Ritmo</c:v>
                </c:pt>
                <c:pt idx="3">
                  <c:v>Sueldo</c:v>
                </c:pt>
                <c:pt idx="4">
                  <c:v>Burocracia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14.1</c:v>
                </c:pt>
                <c:pt idx="1">
                  <c:v>15.2</c:v>
                </c:pt>
                <c:pt idx="2">
                  <c:v>7.7</c:v>
                </c:pt>
                <c:pt idx="3">
                  <c:v>8.9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11-4C04-B7F9-3A209F5C37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F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4A4F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967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97180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s-ES" sz="3800" b="1" noProof="0" dirty="0">
                <a:solidFill>
                  <a:schemeClr val="bg1"/>
                </a:solidFill>
              </a:rPr>
              <a:t>Diagnóstico a Tesla: qué dicen sus empleados</a:t>
            </a:r>
            <a:endParaRPr lang="es-ES" sz="3800" noProof="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971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ES" sz="1800" noProof="0" dirty="0">
                <a:solidFill>
                  <a:schemeClr val="accent4"/>
                </a:solidFill>
              </a:rPr>
              <a:t>Diagnóstico de marca empleadora con reseñas de </a:t>
            </a:r>
            <a:r>
              <a:rPr lang="es-ES" sz="1800" noProof="0" dirty="0" err="1">
                <a:solidFill>
                  <a:schemeClr val="accent4"/>
                </a:solidFill>
              </a:rPr>
              <a:t>Glassdoor</a:t>
            </a:r>
            <a:endParaRPr lang="es-ES" sz="1800" noProof="0" dirty="0"/>
          </a:p>
          <a:p>
            <a:pPr marL="0" indent="0" algn="l">
              <a:buNone/>
            </a:pPr>
            <a:r>
              <a:rPr lang="es-ES" sz="1800" noProof="0" dirty="0">
                <a:solidFill>
                  <a:schemeClr val="accent4"/>
                </a:solidFill>
              </a:rPr>
              <a:t>Comparativa con Ford, General Motors, </a:t>
            </a:r>
            <a:r>
              <a:rPr lang="es-ES" sz="1800" noProof="0" dirty="0" err="1">
                <a:solidFill>
                  <a:schemeClr val="accent4"/>
                </a:solidFill>
              </a:rPr>
              <a:t>Stellantis</a:t>
            </a:r>
            <a:r>
              <a:rPr lang="es-ES" sz="1800" noProof="0" dirty="0">
                <a:solidFill>
                  <a:schemeClr val="accent4"/>
                </a:solidFill>
              </a:rPr>
              <a:t> y Honda</a:t>
            </a:r>
            <a:endParaRPr lang="es-ES" sz="1800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858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noProof="0" dirty="0">
                <a:solidFill>
                  <a:schemeClr val="accent5"/>
                </a:solidFill>
              </a:rPr>
              <a:t>Fernando López Sánchez · Máster en Data </a:t>
            </a:r>
            <a:r>
              <a:rPr lang="es-ES" sz="1200" noProof="0" dirty="0" err="1">
                <a:solidFill>
                  <a:schemeClr val="accent5"/>
                </a:solidFill>
              </a:rPr>
              <a:t>Science</a:t>
            </a:r>
            <a:r>
              <a:rPr lang="es-ES" sz="1200" noProof="0" dirty="0">
                <a:solidFill>
                  <a:schemeClr val="accent5"/>
                </a:solidFill>
              </a:rPr>
              <a:t> &amp; IA</a:t>
            </a:r>
            <a:endParaRPr lang="es-ES" sz="12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600" b="1" noProof="0" dirty="0">
                <a:solidFill>
                  <a:schemeClr val="tx1"/>
                </a:solidFill>
              </a:rPr>
              <a:t>Cómo he trabajado los datos</a:t>
            </a:r>
            <a:endParaRPr lang="es-ES" sz="2600" noProof="0" dirty="0"/>
          </a:p>
        </p:txBody>
      </p:sp>
      <p:sp>
        <p:nvSpPr>
          <p:cNvPr id="3" name="Paso 1"/>
          <p:cNvSpPr/>
          <p:nvPr/>
        </p:nvSpPr>
        <p:spPr>
          <a:xfrm>
            <a:off x="457200" y="1188720"/>
            <a:ext cx="1874520" cy="27889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15659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48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700" b="1" noProof="0" dirty="0">
                <a:solidFill>
                  <a:schemeClr val="tx1"/>
                </a:solidFill>
              </a:rPr>
              <a:t>1. Reunir</a:t>
            </a:r>
            <a:endParaRPr lang="es-ES" sz="1700" noProof="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6032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400" noProof="0" dirty="0">
                <a:solidFill>
                  <a:schemeClr val="tx2"/>
                </a:solidFill>
              </a:rPr>
              <a:t>9.313 reseñas de </a:t>
            </a:r>
            <a:r>
              <a:rPr lang="es-ES" sz="1400" noProof="0" dirty="0" err="1">
                <a:solidFill>
                  <a:schemeClr val="tx2"/>
                </a:solidFill>
              </a:rPr>
              <a:t>Glassdoor</a:t>
            </a:r>
            <a:r>
              <a:rPr lang="es-ES" sz="1400" noProof="0" dirty="0">
                <a:solidFill>
                  <a:schemeClr val="tx2"/>
                </a:solidFill>
              </a:rPr>
              <a:t> (2018–2023): hasta 2.000 por empresa, de empleados actuales y antiguos</a:t>
            </a:r>
            <a:endParaRPr lang="es-ES" sz="1400" noProof="0" dirty="0"/>
          </a:p>
        </p:txBody>
      </p:sp>
      <p:sp>
        <p:nvSpPr>
          <p:cNvPr id="8" name="Paso 2"/>
          <p:cNvSpPr/>
          <p:nvPr/>
        </p:nvSpPr>
        <p:spPr>
          <a:xfrm>
            <a:off x="2578608" y="1188720"/>
            <a:ext cx="1874520" cy="27889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9" name="Shape 6"/>
          <p:cNvSpPr/>
          <p:nvPr/>
        </p:nvSpPr>
        <p:spPr>
          <a:xfrm>
            <a:off x="2761488" y="1417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0078" y="156591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61488" y="2148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700" b="1" noProof="0" dirty="0">
                <a:solidFill>
                  <a:schemeClr val="tx1"/>
                </a:solidFill>
              </a:rPr>
              <a:t>2. Comprobar</a:t>
            </a:r>
            <a:endParaRPr lang="es-ES" sz="1700" noProof="0" dirty="0"/>
          </a:p>
        </p:txBody>
      </p:sp>
      <p:sp>
        <p:nvSpPr>
          <p:cNvPr id="12" name="Text 8"/>
          <p:cNvSpPr txBox="1"/>
          <p:nvPr/>
        </p:nvSpPr>
        <p:spPr>
          <a:xfrm>
            <a:off x="2761488" y="256032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400" noProof="0" dirty="0">
                <a:solidFill>
                  <a:schemeClr val="tx2"/>
                </a:solidFill>
              </a:rPr>
              <a:t>Un modelo verifica que lo escrito como positivo es positivo y lo negativo, negativo: los textos son fiables</a:t>
            </a:r>
            <a:endParaRPr lang="es-ES" sz="1400" noProof="0" dirty="0"/>
          </a:p>
        </p:txBody>
      </p:sp>
      <p:sp>
        <p:nvSpPr>
          <p:cNvPr id="13" name="Paso 3"/>
          <p:cNvSpPr/>
          <p:nvPr/>
        </p:nvSpPr>
        <p:spPr>
          <a:xfrm>
            <a:off x="4700016" y="1188720"/>
            <a:ext cx="1874520" cy="27889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4" name="Shape 10"/>
          <p:cNvSpPr/>
          <p:nvPr/>
        </p:nvSpPr>
        <p:spPr>
          <a:xfrm>
            <a:off x="4882896" y="1417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1486" y="156591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82896" y="2148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700" b="1" noProof="0" dirty="0">
                <a:solidFill>
                  <a:schemeClr val="tx1"/>
                </a:solidFill>
              </a:rPr>
              <a:t>3. Agrupar</a:t>
            </a:r>
            <a:endParaRPr lang="es-ES" sz="1700" noProof="0" dirty="0"/>
          </a:p>
        </p:txBody>
      </p:sp>
      <p:sp>
        <p:nvSpPr>
          <p:cNvPr id="17" name="Text 12"/>
          <p:cNvSpPr txBox="1"/>
          <p:nvPr/>
        </p:nvSpPr>
        <p:spPr>
          <a:xfrm>
            <a:off x="4882896" y="256032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400" noProof="0" dirty="0">
                <a:solidFill>
                  <a:schemeClr val="tx2"/>
                </a:solidFill>
              </a:rPr>
              <a:t>Un modelo lee cada comentario y lo agrupa por tema: sueldo, horarios, jefes, ambiente…</a:t>
            </a:r>
            <a:endParaRPr lang="es-ES" sz="1400" noProof="0" dirty="0"/>
          </a:p>
        </p:txBody>
      </p:sp>
      <p:sp>
        <p:nvSpPr>
          <p:cNvPr id="18" name="Paso 4"/>
          <p:cNvSpPr/>
          <p:nvPr/>
        </p:nvSpPr>
        <p:spPr>
          <a:xfrm>
            <a:off x="6821424" y="1188720"/>
            <a:ext cx="1874520" cy="27889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9" name="Shape 14"/>
          <p:cNvSpPr/>
          <p:nvPr/>
        </p:nvSpPr>
        <p:spPr>
          <a:xfrm>
            <a:off x="7004304" y="14173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2894" y="156591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04304" y="2148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700" b="1" noProof="0" dirty="0">
                <a:solidFill>
                  <a:schemeClr val="tx1"/>
                </a:solidFill>
              </a:rPr>
              <a:t>4. Comparar</a:t>
            </a:r>
            <a:endParaRPr lang="es-ES" sz="1700" noProof="0" dirty="0"/>
          </a:p>
        </p:txBody>
      </p:sp>
      <p:sp>
        <p:nvSpPr>
          <p:cNvPr id="22" name="Text 16"/>
          <p:cNvSpPr txBox="1"/>
          <p:nvPr/>
        </p:nvSpPr>
        <p:spPr>
          <a:xfrm>
            <a:off x="7004304" y="256032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400" noProof="0" dirty="0">
                <a:solidFill>
                  <a:schemeClr val="tx2"/>
                </a:solidFill>
              </a:rPr>
              <a:t>Tesla frente a la media de sus competidores, y actuales frente a quienes ya se han ido</a:t>
            </a:r>
            <a:endParaRPr lang="es-ES" sz="1400" noProof="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i="1" noProof="0" dirty="0">
                <a:solidFill>
                  <a:schemeClr val="accent5"/>
                </a:solidFill>
              </a:rPr>
              <a:t>Competidores elegidos porque buscan el mismo perfil: operarios de planta, ingenieros, técnicos y ventas.</a:t>
            </a:r>
            <a:endParaRPr lang="es-ES" sz="12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ES" b="0" noProof="0" smtClean="0"/>
              <a:t>2</a:t>
            </a:fld>
            <a:endParaRPr lang="es-ES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600" b="1" noProof="0" dirty="0">
                <a:solidFill>
                  <a:schemeClr val="tx1"/>
                </a:solidFill>
              </a:rPr>
              <a:t>Tesla, por debajo del mercado y empeorando</a:t>
            </a:r>
            <a:endParaRPr lang="es-ES" sz="2600" noProof="0" dirty="0"/>
          </a:p>
        </p:txBody>
      </p:sp>
      <p:sp>
        <p:nvSpPr>
          <p:cNvPr id="3" name="Dato 1"/>
          <p:cNvSpPr/>
          <p:nvPr/>
        </p:nvSpPr>
        <p:spPr>
          <a:xfrm>
            <a:off x="457200" y="1188720"/>
            <a:ext cx="182880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984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noProof="0" dirty="0">
                <a:solidFill>
                  <a:schemeClr val="accent1"/>
                </a:solidFill>
              </a:rPr>
              <a:t>3,59</a:t>
            </a:r>
            <a:endParaRPr lang="es-ES" sz="32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200" noProof="0" dirty="0">
                <a:solidFill>
                  <a:schemeClr val="tx1"/>
                </a:solidFill>
              </a:rPr>
              <a:t>nota media sobre 5</a:t>
            </a:r>
            <a:endParaRPr lang="es-ES" sz="12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100" noProof="0" dirty="0">
                <a:solidFill>
                  <a:schemeClr val="accent5"/>
                </a:solidFill>
              </a:rPr>
              <a:t>competidores: 3,78</a:t>
            </a:r>
            <a:endParaRPr lang="es-ES" sz="1100" noProof="0" dirty="0"/>
          </a:p>
        </p:txBody>
      </p:sp>
      <p:sp>
        <p:nvSpPr>
          <p:cNvPr id="7" name="Dato 2"/>
          <p:cNvSpPr/>
          <p:nvPr/>
        </p:nvSpPr>
        <p:spPr>
          <a:xfrm>
            <a:off x="2468880" y="1188720"/>
            <a:ext cx="182880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29844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noProof="0" dirty="0">
                <a:solidFill>
                  <a:schemeClr val="accent1"/>
                </a:solidFill>
              </a:rPr>
              <a:t>26 %</a:t>
            </a:r>
            <a:endParaRPr lang="es-ES" sz="32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920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200" noProof="0" dirty="0">
                <a:solidFill>
                  <a:schemeClr val="tx1"/>
                </a:solidFill>
              </a:rPr>
              <a:t>no recomendaría Tesla</a:t>
            </a:r>
            <a:endParaRPr lang="es-ES" sz="120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100" noProof="0" dirty="0">
                <a:solidFill>
                  <a:schemeClr val="accent5"/>
                </a:solidFill>
              </a:rPr>
              <a:t>competidores: 19 %</a:t>
            </a:r>
            <a:endParaRPr lang="es-ES" sz="1100" noProof="0" dirty="0"/>
          </a:p>
        </p:txBody>
      </p:sp>
      <p:sp>
        <p:nvSpPr>
          <p:cNvPr id="11" name="Dato 3"/>
          <p:cNvSpPr/>
          <p:nvPr/>
        </p:nvSpPr>
        <p:spPr>
          <a:xfrm>
            <a:off x="457200" y="2880360"/>
            <a:ext cx="182880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99008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noProof="0" dirty="0">
                <a:solidFill>
                  <a:schemeClr val="accent1"/>
                </a:solidFill>
              </a:rPr>
              <a:t>44 %</a:t>
            </a:r>
            <a:endParaRPr lang="es-ES" sz="32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200" noProof="0" dirty="0">
                <a:solidFill>
                  <a:schemeClr val="tx1"/>
                </a:solidFill>
              </a:rPr>
              <a:t>reseñas de antiguos empleados</a:t>
            </a:r>
            <a:endParaRPr lang="es-ES" sz="12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100" noProof="0" dirty="0">
                <a:solidFill>
                  <a:schemeClr val="accent5"/>
                </a:solidFill>
              </a:rPr>
              <a:t>competidores: 35 %</a:t>
            </a:r>
            <a:endParaRPr lang="es-ES" sz="1100" noProof="0" dirty="0"/>
          </a:p>
        </p:txBody>
      </p:sp>
      <p:sp>
        <p:nvSpPr>
          <p:cNvPr id="15" name="Dato 4"/>
          <p:cNvSpPr/>
          <p:nvPr/>
        </p:nvSpPr>
        <p:spPr>
          <a:xfrm>
            <a:off x="2468880" y="2880360"/>
            <a:ext cx="182880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2990088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noProof="0" dirty="0">
                <a:solidFill>
                  <a:schemeClr val="accent1"/>
                </a:solidFill>
              </a:rPr>
              <a:t>3,73 → 3,43</a:t>
            </a:r>
            <a:endParaRPr lang="es-ES" sz="22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200" noProof="0" dirty="0">
                <a:solidFill>
                  <a:schemeClr val="tx1"/>
                </a:solidFill>
              </a:rPr>
              <a:t>evolución de la nota 2021–2023</a:t>
            </a:r>
            <a:endParaRPr lang="es-ES" sz="120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4023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100" noProof="0" dirty="0">
                <a:solidFill>
                  <a:schemeClr val="accent5"/>
                </a:solidFill>
              </a:rPr>
              <a:t>competidores: ~3,8 estable</a:t>
            </a:r>
            <a:endParaRPr lang="es-ES" sz="11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ES" b="0" noProof="0" smtClean="0"/>
              <a:t>3</a:t>
            </a:fld>
            <a:endParaRPr lang="es-ES" noProof="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483E6175-691E-DE63-1BB8-FBC475ABC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188720"/>
            <a:ext cx="4557114" cy="3111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600" b="1" noProof="0" dirty="0">
                <a:solidFill>
                  <a:schemeClr val="tx1"/>
                </a:solidFill>
              </a:rPr>
              <a:t>Tesla está peor justo en lo que más pesa</a:t>
            </a:r>
            <a:endParaRPr lang="es-ES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5303520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0" y="13601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89320" y="1188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500" b="1" noProof="0" dirty="0">
                <a:solidFill>
                  <a:schemeClr val="tx1"/>
                </a:solidFill>
              </a:rPr>
              <a:t>Horarios y conciliación</a:t>
            </a:r>
            <a:endParaRPr lang="es-ES" sz="15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152704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noProof="0" dirty="0">
                <a:solidFill>
                  <a:schemeClr val="tx2"/>
                </a:solidFill>
              </a:rPr>
              <a:t>La peor de las 5 empresas y la queja más frecuente (22 % frente a 14 %)</a:t>
            </a:r>
            <a:endParaRPr lang="es-ES" sz="1300" noProof="0" dirty="0"/>
          </a:p>
        </p:txBody>
      </p:sp>
      <p:sp>
        <p:nvSpPr>
          <p:cNvPr id="9" name="Shape 6"/>
          <p:cNvSpPr/>
          <p:nvPr/>
        </p:nvSpPr>
        <p:spPr>
          <a:xfrm>
            <a:off x="5303520" y="2377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25031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989320" y="2331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500" b="1" noProof="0" dirty="0">
                <a:solidFill>
                  <a:schemeClr val="tx1"/>
                </a:solidFill>
              </a:rPr>
              <a:t>Jefes y dirección</a:t>
            </a:r>
            <a:endParaRPr lang="es-ES" sz="1500" noProof="0" dirty="0"/>
          </a:p>
        </p:txBody>
      </p:sp>
      <p:sp>
        <p:nvSpPr>
          <p:cNvPr id="12" name="Text 8"/>
          <p:cNvSpPr txBox="1"/>
          <p:nvPr/>
        </p:nvSpPr>
        <p:spPr>
          <a:xfrm>
            <a:off x="5989320" y="267004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noProof="0" dirty="0">
                <a:solidFill>
                  <a:schemeClr val="tx2"/>
                </a:solidFill>
              </a:rPr>
              <a:t>Peor que todos los competidores. Quien se queja de su jefe pone un 2,9 sobre 5</a:t>
            </a:r>
            <a:endParaRPr lang="es-ES" sz="1300" noProof="0" dirty="0"/>
          </a:p>
        </p:txBody>
      </p:sp>
      <p:sp>
        <p:nvSpPr>
          <p:cNvPr id="13" name="Shape 9"/>
          <p:cNvSpPr/>
          <p:nvPr/>
        </p:nvSpPr>
        <p:spPr>
          <a:xfrm>
            <a:off x="5303520" y="35204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0" y="364617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989320" y="3474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500" b="1" noProof="0" dirty="0">
                <a:solidFill>
                  <a:schemeClr val="tx1"/>
                </a:solidFill>
              </a:rPr>
              <a:t>A favor de Tesla</a:t>
            </a:r>
            <a:endParaRPr lang="es-ES" sz="1500" noProof="0" dirty="0"/>
          </a:p>
        </p:txBody>
      </p:sp>
      <p:sp>
        <p:nvSpPr>
          <p:cNvPr id="16" name="Text 11"/>
          <p:cNvSpPr txBox="1"/>
          <p:nvPr/>
        </p:nvSpPr>
        <p:spPr>
          <a:xfrm>
            <a:off x="5989320" y="381304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noProof="0" dirty="0">
                <a:solidFill>
                  <a:schemeClr val="tx2"/>
                </a:solidFill>
              </a:rPr>
              <a:t>Menos burocracia, más estabilidad y crecimiento. El sueldo está en línea con el sector</a:t>
            </a:r>
            <a:endParaRPr lang="es-ES" sz="13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ES" b="0" noProof="0" smtClean="0"/>
              <a:t>4</a:t>
            </a:fld>
            <a:endParaRPr lang="es-ES" noProof="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59DC456-3544-1B0C-1AF0-20EAF27CB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06" y="1188720"/>
            <a:ext cx="5131574" cy="3330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600" b="1" noProof="0" dirty="0">
                <a:solidFill>
                  <a:schemeClr val="tx1"/>
                </a:solidFill>
              </a:rPr>
              <a:t>¿Por qué se van de Tesla?</a:t>
            </a:r>
            <a:endParaRPr lang="es-ES" sz="2600" noProof="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592817823"/>
              </p:ext>
            </p:extLst>
          </p:nvPr>
        </p:nvGraphicFramePr>
        <p:xfrm>
          <a:off x="457200" y="1097280"/>
          <a:ext cx="45720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303520" y="1234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1360170"/>
            <a:ext cx="251460" cy="2514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989320" y="1188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500" b="1" noProof="0" dirty="0">
                <a:solidFill>
                  <a:schemeClr val="tx1"/>
                </a:solidFill>
              </a:rPr>
              <a:t>Los jefes, lo que más diferencia</a:t>
            </a:r>
            <a:endParaRPr lang="es-ES" sz="1500" noProof="0" dirty="0"/>
          </a:p>
        </p:txBody>
      </p:sp>
      <p:sp>
        <p:nvSpPr>
          <p:cNvPr id="7" name="Text 3"/>
          <p:cNvSpPr txBox="1"/>
          <p:nvPr/>
        </p:nvSpPr>
        <p:spPr>
          <a:xfrm>
            <a:off x="5989320" y="152704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noProof="0" dirty="0">
                <a:solidFill>
                  <a:schemeClr val="tx2"/>
                </a:solidFill>
              </a:rPr>
              <a:t>Pesan un 21 % en quienes se van frente a un 14 % en quienes se quedan</a:t>
            </a:r>
            <a:endParaRPr lang="es-ES" sz="1300" noProof="0" dirty="0"/>
          </a:p>
        </p:txBody>
      </p:sp>
      <p:sp>
        <p:nvSpPr>
          <p:cNvPr id="8" name="Shape 4"/>
          <p:cNvSpPr/>
          <p:nvPr/>
        </p:nvSpPr>
        <p:spPr>
          <a:xfrm>
            <a:off x="5303520" y="2377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0" y="2503170"/>
            <a:ext cx="251460" cy="2514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2331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500" b="1" noProof="0" dirty="0">
                <a:solidFill>
                  <a:schemeClr val="tx1"/>
                </a:solidFill>
              </a:rPr>
              <a:t>Horarios: problema de todos</a:t>
            </a:r>
            <a:endParaRPr lang="es-ES" sz="1500" noProof="0" dirty="0"/>
          </a:p>
        </p:txBody>
      </p:sp>
      <p:sp>
        <p:nvSpPr>
          <p:cNvPr id="11" name="Text 6"/>
          <p:cNvSpPr txBox="1"/>
          <p:nvPr/>
        </p:nvSpPr>
        <p:spPr>
          <a:xfrm>
            <a:off x="5989320" y="267004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noProof="0" dirty="0">
                <a:solidFill>
                  <a:schemeClr val="tx2"/>
                </a:solidFill>
              </a:rPr>
              <a:t>Mismo peso en actuales y antiguos. Es el primer motivo de salida</a:t>
            </a:r>
            <a:endParaRPr lang="es-ES" sz="1300" noProof="0" dirty="0"/>
          </a:p>
        </p:txBody>
      </p:sp>
      <p:sp>
        <p:nvSpPr>
          <p:cNvPr id="12" name="Shape 7"/>
          <p:cNvSpPr/>
          <p:nvPr/>
        </p:nvSpPr>
        <p:spPr>
          <a:xfrm>
            <a:off x="5303520" y="35204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0" y="3646170"/>
            <a:ext cx="251460" cy="2514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989320" y="34747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500" b="1" noProof="0" dirty="0">
                <a:solidFill>
                  <a:schemeClr val="tx1"/>
                </a:solidFill>
              </a:rPr>
              <a:t>El sueldo no es el motivo</a:t>
            </a:r>
            <a:endParaRPr lang="es-ES" sz="1500" noProof="0" dirty="0"/>
          </a:p>
        </p:txBody>
      </p:sp>
      <p:sp>
        <p:nvSpPr>
          <p:cNvPr id="15" name="Text 9"/>
          <p:cNvSpPr txBox="1"/>
          <p:nvPr/>
        </p:nvSpPr>
        <p:spPr>
          <a:xfrm>
            <a:off x="5989320" y="381304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noProof="0" dirty="0">
                <a:solidFill>
                  <a:schemeClr val="tx2"/>
                </a:solidFill>
              </a:rPr>
              <a:t>Los que se van se quejan menos del sueldo que en la competencia</a:t>
            </a:r>
            <a:endParaRPr lang="es-ES" sz="13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ES" b="0" noProof="0" smtClean="0"/>
              <a:t>5</a:t>
            </a:fld>
            <a:endParaRPr lang="es-ES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600" b="1" noProof="0" dirty="0">
                <a:solidFill>
                  <a:schemeClr val="tx1"/>
                </a:solidFill>
              </a:rPr>
              <a:t>¿Dónde actuar primero? Matriz de priorización</a:t>
            </a:r>
            <a:endParaRPr lang="es-ES" sz="26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ES" b="0" noProof="0" smtClean="0"/>
              <a:t>6</a:t>
            </a:fld>
            <a:endParaRPr lang="es-ES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39187E3-E49F-7E51-64C0-4ACEA1AD4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046" y="812800"/>
            <a:ext cx="7273907" cy="421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noProof="0" dirty="0"/>
              <a:t>Recomendaciones</a:t>
            </a:r>
            <a:endParaRPr lang="es-ES" sz="2600" noProof="0" dirty="0"/>
          </a:p>
        </p:txBody>
      </p:sp>
      <p:sp>
        <p:nvSpPr>
          <p:cNvPr id="3" name="Recomendación 1"/>
          <p:cNvSpPr/>
          <p:nvPr/>
        </p:nvSpPr>
        <p:spPr>
          <a:xfrm>
            <a:off x="457200" y="1051560"/>
            <a:ext cx="2615184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800" b="1" noProof="0" dirty="0">
                <a:solidFill>
                  <a:schemeClr val="bg1"/>
                </a:solidFill>
              </a:rPr>
              <a:t>1</a:t>
            </a:r>
            <a:endParaRPr lang="es-ES" sz="18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500" b="1" noProof="0" dirty="0">
                <a:solidFill>
                  <a:schemeClr val="tx1"/>
                </a:solidFill>
              </a:rPr>
              <a:t>Horarios previsibles</a:t>
            </a:r>
            <a:endParaRPr lang="es-ES" sz="15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noProof="0" dirty="0">
                <a:solidFill>
                  <a:schemeClr val="tx2"/>
                </a:solidFill>
              </a:rPr>
              <a:t>Planificar turnos y horas extra con antelación y limitar las obligatorias.</a:t>
            </a:r>
            <a:endParaRPr lang="es-ES" sz="13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100" i="1" noProof="0" dirty="0">
                <a:solidFill>
                  <a:schemeClr val="accent1"/>
                </a:solidFill>
              </a:rPr>
              <a:t>Meta: quejas de horarios del 22 % al 14 % del sector</a:t>
            </a:r>
            <a:endParaRPr lang="es-ES" sz="1100" noProof="0" dirty="0"/>
          </a:p>
        </p:txBody>
      </p:sp>
      <p:sp>
        <p:nvSpPr>
          <p:cNvPr id="9" name="Recomendación 2"/>
          <p:cNvSpPr/>
          <p:nvPr/>
        </p:nvSpPr>
        <p:spPr>
          <a:xfrm>
            <a:off x="3264408" y="1051560"/>
            <a:ext cx="2615184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Shape 8"/>
          <p:cNvSpPr/>
          <p:nvPr/>
        </p:nvSpPr>
        <p:spPr>
          <a:xfrm>
            <a:off x="3447288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800" b="1" noProof="0" dirty="0">
                <a:solidFill>
                  <a:schemeClr val="bg1"/>
                </a:solidFill>
              </a:rPr>
              <a:t>2</a:t>
            </a:r>
            <a:endParaRPr lang="es-ES" sz="18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4014216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500" b="1" noProof="0" dirty="0">
                <a:solidFill>
                  <a:schemeClr val="tx1"/>
                </a:solidFill>
              </a:rPr>
              <a:t>Mejores jefes</a:t>
            </a:r>
            <a:endParaRPr lang="es-ES" sz="15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178308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noProof="0" dirty="0">
                <a:solidFill>
                  <a:schemeClr val="tx2"/>
                </a:solidFill>
              </a:rPr>
              <a:t>Formación en gestión de equipos, evaluación y entrevistas de salida.</a:t>
            </a:r>
            <a:endParaRPr lang="es-ES" sz="13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265176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100" i="1" noProof="0" dirty="0">
                <a:solidFill>
                  <a:schemeClr val="accent1"/>
                </a:solidFill>
              </a:rPr>
              <a:t>Meta: menos quejas sobre jefes entre quienes se van (21 %)</a:t>
            </a:r>
            <a:endParaRPr lang="es-ES" sz="1100" noProof="0" dirty="0"/>
          </a:p>
        </p:txBody>
      </p:sp>
      <p:sp>
        <p:nvSpPr>
          <p:cNvPr id="15" name="Recomendación 3"/>
          <p:cNvSpPr/>
          <p:nvPr/>
        </p:nvSpPr>
        <p:spPr>
          <a:xfrm>
            <a:off x="6071616" y="1051560"/>
            <a:ext cx="2615184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Shape 14"/>
          <p:cNvSpPr/>
          <p:nvPr/>
        </p:nvSpPr>
        <p:spPr>
          <a:xfrm>
            <a:off x="6254496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800" b="1" noProof="0" dirty="0">
                <a:solidFill>
                  <a:schemeClr val="bg1"/>
                </a:solidFill>
              </a:rPr>
              <a:t>3</a:t>
            </a:r>
            <a:endParaRPr lang="es-ES" sz="180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6821424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500" b="1" noProof="0" dirty="0">
                <a:solidFill>
                  <a:schemeClr val="tx1"/>
                </a:solidFill>
              </a:rPr>
              <a:t>Atraer con lo que funciona</a:t>
            </a:r>
            <a:endParaRPr lang="es-ES" sz="1500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1783080"/>
            <a:ext cx="2249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noProof="0" dirty="0">
                <a:solidFill>
                  <a:schemeClr val="tx2"/>
                </a:solidFill>
              </a:rPr>
              <a:t>Destacar estabilidad, poca burocracia y crecimiento, siendo claros sobre el ritmo.</a:t>
            </a:r>
            <a:endParaRPr lang="es-ES" sz="1300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265176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100" i="1" noProof="0" dirty="0">
                <a:solidFill>
                  <a:schemeClr val="accent1"/>
                </a:solidFill>
              </a:rPr>
              <a:t>Meta: menos salidas por expectativas no cumplidas</a:t>
            </a:r>
            <a:endParaRPr lang="es-ES" sz="1100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4747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500" b="1" noProof="0" dirty="0">
                <a:solidFill>
                  <a:schemeClr val="tx1"/>
                </a:solidFill>
              </a:rPr>
              <a:t>Limitaciones</a:t>
            </a:r>
            <a:endParaRPr lang="es-ES" sz="1500" noProof="0" dirty="0"/>
          </a:p>
        </p:txBody>
      </p:sp>
      <p:sp>
        <p:nvSpPr>
          <p:cNvPr id="22" name="Text 20"/>
          <p:cNvSpPr/>
          <p:nvPr/>
        </p:nvSpPr>
        <p:spPr>
          <a:xfrm>
            <a:off x="457200" y="381304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s-ES" sz="1300" noProof="0" dirty="0">
                <a:solidFill>
                  <a:schemeClr val="tx2"/>
                </a:solidFill>
              </a:rPr>
              <a:t>Reseñas voluntarias: tienden a recoger experiencias extremas</a:t>
            </a:r>
            <a:endParaRPr lang="es-ES" sz="1300" noProof="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s-ES" sz="1300" noProof="0" dirty="0">
                <a:solidFill>
                  <a:schemeClr val="tx2"/>
                </a:solidFill>
              </a:rPr>
              <a:t>Sin datos de país ni de puesto: se mezclan planta, ventas y oficinas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s-ES" sz="1300" noProof="0" dirty="0">
                <a:solidFill>
                  <a:schemeClr val="tx2"/>
                </a:solidFill>
              </a:rPr>
              <a:t>Tiempo</a:t>
            </a:r>
            <a:endParaRPr lang="es-ES" sz="1300" noProof="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34747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500" b="1" noProof="0" dirty="0">
                <a:solidFill>
                  <a:schemeClr val="tx1"/>
                </a:solidFill>
              </a:rPr>
              <a:t>Próximos pasos</a:t>
            </a:r>
            <a:endParaRPr lang="es-ES" sz="1500" noProof="0" dirty="0"/>
          </a:p>
        </p:txBody>
      </p:sp>
      <p:sp>
        <p:nvSpPr>
          <p:cNvPr id="24" name="Text 22"/>
          <p:cNvSpPr/>
          <p:nvPr/>
        </p:nvSpPr>
        <p:spPr>
          <a:xfrm>
            <a:off x="4709160" y="381304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s-ES" sz="1300" noProof="0" dirty="0">
                <a:solidFill>
                  <a:schemeClr val="tx2"/>
                </a:solidFill>
              </a:rPr>
              <a:t>Repetir el análisis por puesto con datos internos</a:t>
            </a:r>
            <a:endParaRPr lang="es-ES" sz="1300" noProof="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s-ES" sz="1300" noProof="0" dirty="0">
                <a:solidFill>
                  <a:schemeClr val="tx2"/>
                </a:solidFill>
              </a:rPr>
              <a:t>Seguir estos indicadores cada trimestre</a:t>
            </a:r>
            <a:endParaRPr lang="es-ES" sz="13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ES" b="0" noProof="0" smtClean="0"/>
              <a:t>7</a:t>
            </a:fld>
            <a:endParaRPr lang="es-ES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sla RRHH">
  <a:themeElements>
    <a:clrScheme name="Tesla RRHH">
      <a:dk1>
        <a:srgbClr val="1A1A1A"/>
      </a:dk1>
      <a:lt1>
        <a:srgbClr val="FFFFFF"/>
      </a:lt1>
      <a:dk2>
        <a:srgbClr val="4A4F55"/>
      </a:dk2>
      <a:lt2>
        <a:srgbClr val="F2F3F4"/>
      </a:lt2>
      <a:accent1>
        <a:srgbClr val="E31937"/>
      </a:accent1>
      <a:accent2>
        <a:srgbClr val="5B6770"/>
      </a:accent2>
      <a:accent3>
        <a:srgbClr val="2E75B6"/>
      </a:accent3>
      <a:accent4>
        <a:srgbClr val="D5D8DC"/>
      </a:accent4>
      <a:accent5>
        <a:srgbClr val="8A9097"/>
      </a:accent5>
      <a:accent6>
        <a:srgbClr val="F4B183"/>
      </a:accent6>
      <a:hlink>
        <a:srgbClr val="2E75B6"/>
      </a:hlink>
      <a:folHlink>
        <a:srgbClr val="5B6770"/>
      </a:folHlink>
    </a:clrScheme>
    <a:fontScheme name="Tesla RRH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486</Words>
  <Application>Microsoft Office PowerPoint</Application>
  <PresentationFormat>Presentación en pantalla (16:9)</PresentationFormat>
  <Paragraphs>76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Tesla RRHH</vt:lpstr>
      <vt:lpstr>Diagnóstico a Tesla: qué dicen sus empleados</vt:lpstr>
      <vt:lpstr>Cómo he trabajado los datos</vt:lpstr>
      <vt:lpstr>Tesla, por debajo del mercado y empeorando</vt:lpstr>
      <vt:lpstr>Tesla está peor justo en lo que más pesa</vt:lpstr>
      <vt:lpstr>¿Por qué se van de Tesla?</vt:lpstr>
      <vt:lpstr>¿Dónde actuar primero? Matriz de priorización</vt:lpstr>
      <vt:lpstr>Recomendaciones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Diagnóstico de marca empleadora — Tesla vs. peers</dc:title>
  <dc:subject>PptxGenJS Presentation</dc:subject>
  <dc:creator>Fernando López Sánchez</dc:creator>
  <cp:lastModifiedBy>LAURA MARIA LOPEZ MARTINEZ</cp:lastModifiedBy>
  <cp:revision>4</cp:revision>
  <dcterms:created xsi:type="dcterms:W3CDTF">2026-10-07T11:02:21Z</dcterms:created>
  <dcterms:modified xsi:type="dcterms:W3CDTF">2026-10-07T16:27:32Z</dcterms:modified>
</cp:coreProperties>
</file>